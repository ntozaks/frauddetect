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Garet" pitchFamily="2" charset="77"/>
      <p:regular r:id="rId15"/>
    </p:embeddedFont>
    <p:embeddedFont>
      <p:font typeface="Garet Bold" pitchFamily="2" charset="77"/>
      <p:regular r:id="rId16"/>
      <p:bold r:id="rId17"/>
    </p:embeddedFont>
    <p:embeddedFont>
      <p:font typeface="Now" pitchFamily="2" charset="77"/>
      <p:regular r:id="rId18"/>
      <p:bold r:id="rId19"/>
    </p:embeddedFont>
    <p:embeddedFont>
      <p:font typeface="Now Bold" pitchFamily="2" charset="77"/>
      <p:regular r:id="rId20"/>
      <p:bold r:id="rId21"/>
    </p:embeddedFont>
    <p:embeddedFont>
      <p:font typeface="Nunito Italics" pitchFamily="2" charset="77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62" autoAdjust="0"/>
  </p:normalViewPr>
  <p:slideViewPr>
    <p:cSldViewPr>
      <p:cViewPr varScale="1">
        <p:scale>
          <a:sx n="72" d="100"/>
          <a:sy n="72" d="100"/>
        </p:scale>
        <p:origin x="66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104" y="8160554"/>
            <a:ext cx="1453670" cy="428324"/>
            <a:chOff x="0" y="0"/>
            <a:chExt cx="952367" cy="2806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52367" cy="309190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867076" y="8374716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74331" y="262777"/>
            <a:ext cx="1930382" cy="1930382"/>
          </a:xfrm>
          <a:custGeom>
            <a:avLst/>
            <a:gdLst/>
            <a:ahLst/>
            <a:cxnLst/>
            <a:rect l="l" t="t" r="r" b="b"/>
            <a:pathLst>
              <a:path w="1930382" h="1930382">
                <a:moveTo>
                  <a:pt x="0" y="0"/>
                </a:moveTo>
                <a:lnTo>
                  <a:pt x="1930383" y="0"/>
                </a:lnTo>
                <a:lnTo>
                  <a:pt x="1930383" y="1930383"/>
                </a:lnTo>
                <a:lnTo>
                  <a:pt x="0" y="1930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5313" y="4677092"/>
            <a:ext cx="17917375" cy="17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spc="1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REINFORCEMENT LEARNING </a:t>
            </a:r>
          </a:p>
          <a:p>
            <a:pPr algn="ctr">
              <a:lnSpc>
                <a:spcPts val="6859"/>
              </a:lnSpc>
            </a:pPr>
            <a:r>
              <a:rPr lang="en-US" sz="4899" spc="1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FOR FRAUD DETECTION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41478" y="7176281"/>
            <a:ext cx="9005044" cy="37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244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SANKOFA BENZO, MS CYBERSECURITY &amp; NETWORKS ‘25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83623" y="3225148"/>
            <a:ext cx="8320754" cy="37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244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DECEMBER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519762" y="2110124"/>
            <a:ext cx="6066751" cy="606675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25136" b="-251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1663" y="1748825"/>
            <a:ext cx="4750977" cy="837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  <a:spcBef>
                <a:spcPct val="0"/>
              </a:spcBef>
            </a:pPr>
            <a:r>
              <a:rPr lang="en-US" sz="4899" spc="1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LIT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0564" y="3370512"/>
            <a:ext cx="6246105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. Ali et al [[1] </a:t>
            </a:r>
            <a:r>
              <a:rPr lang="en-US" sz="2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presents a systematic literature review of financial fraud detection using 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663" y="3370512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0564" y="4851523"/>
            <a:ext cx="6246105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Pervin et al. [2] </a:t>
            </a:r>
            <a:r>
              <a:rPr lang="en-US" sz="2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presented a hybrid CNN-LSTM approach for detecting anomalous credit card transactions.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663" y="4851523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0564" y="6229473"/>
            <a:ext cx="6246105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Ubale et al. [3] </a:t>
            </a:r>
            <a:r>
              <a:rPr lang="en-US" sz="2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presents a hybrid quantum LSTM for fraud detection to enhance the representational powers of classical models through quantum encoding.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1663" y="6229473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6735" y="9460770"/>
            <a:ext cx="17149248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[1] https://doi.org/10.3390/app12199637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[2] https://doi.org/10.37547/tajmei/Volume07Issue04-15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[3]https://doi.org/10.48550/arXiv.2505.00137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095936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07737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519538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367064"/>
            <a:ext cx="7279037" cy="17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  <a:spcBef>
                <a:spcPct val="0"/>
              </a:spcBef>
            </a:pPr>
            <a:r>
              <a:rPr lang="en-US" sz="4899" b="1" u="none" strike="noStrike" spc="1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STATEMENT AND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190994"/>
            <a:ext cx="882335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 hypothesize that a Q-deep learning algorithm coupled with LSTM will result in a model that can maximize detection of fraudulent banking activities.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203" y="6408837"/>
            <a:ext cx="3806998" cy="53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0"/>
              </a:lnSpc>
              <a:spcBef>
                <a:spcPct val="0"/>
              </a:spcBef>
            </a:pPr>
            <a:r>
              <a:rPr lang="en-US" sz="3100" b="1" u="none" strike="noStrike" spc="8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EVAL METRIC #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40501" y="6408837"/>
            <a:ext cx="3806998" cy="53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0"/>
              </a:lnSpc>
              <a:spcBef>
                <a:spcPct val="0"/>
              </a:spcBef>
            </a:pPr>
            <a:r>
              <a:rPr lang="en-US" sz="3100" b="1" u="none" strike="noStrike" spc="8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EVAL METRIC #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4020" y="7078855"/>
            <a:ext cx="501635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Detection Improvement</a:t>
            </a:r>
          </a:p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Measure the agent’s ability to correctly detect fraud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5821" y="7078855"/>
            <a:ext cx="5016359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Precision/Recall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Analyze the model's performance in predicting specific conditions</a:t>
            </a:r>
          </a:p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452302" y="6408837"/>
            <a:ext cx="3806998" cy="53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0"/>
              </a:lnSpc>
              <a:spcBef>
                <a:spcPct val="0"/>
              </a:spcBef>
            </a:pPr>
            <a:r>
              <a:rPr lang="en-US" sz="3100" b="1" u="none" strike="noStrike" spc="8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EVAL METRIC #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47622" y="7078855"/>
            <a:ext cx="501635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u="sng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Confusion Matrix</a:t>
            </a:r>
          </a:p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Visualize false positives/negatives to understand where the model struggles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1663" y="1748825"/>
            <a:ext cx="5944631" cy="837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  <a:spcBef>
                <a:spcPct val="0"/>
              </a:spcBef>
            </a:pPr>
            <a:r>
              <a:rPr lang="en-US" sz="4899" spc="1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METHODOLOGY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00457" y="3699396"/>
            <a:ext cx="16058843" cy="1629446"/>
            <a:chOff x="0" y="0"/>
            <a:chExt cx="21411791" cy="2172595"/>
          </a:xfrm>
        </p:grpSpPr>
        <p:sp>
          <p:nvSpPr>
            <p:cNvPr id="7" name="AutoShape 7"/>
            <p:cNvSpPr/>
            <p:nvPr/>
          </p:nvSpPr>
          <p:spPr>
            <a:xfrm>
              <a:off x="0" y="1073597"/>
              <a:ext cx="18451075" cy="0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 rot="5400000">
              <a:off x="18727997" y="-511199"/>
              <a:ext cx="2172595" cy="3194992"/>
            </a:xfrm>
            <a:custGeom>
              <a:avLst/>
              <a:gdLst/>
              <a:ahLst/>
              <a:cxnLst/>
              <a:rect l="l" t="t" r="r" b="b"/>
              <a:pathLst>
                <a:path w="2172595" h="3194992">
                  <a:moveTo>
                    <a:pt x="0" y="0"/>
                  </a:moveTo>
                  <a:lnTo>
                    <a:pt x="2172595" y="0"/>
                  </a:lnTo>
                  <a:lnTo>
                    <a:pt x="2172595" y="3194993"/>
                  </a:lnTo>
                  <a:lnTo>
                    <a:pt x="0" y="3194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19763"/>
              <a:ext cx="507670" cy="507670"/>
            </a:xfrm>
            <a:custGeom>
              <a:avLst/>
              <a:gdLst/>
              <a:ahLst/>
              <a:cxnLst/>
              <a:rect l="l" t="t" r="r" b="b"/>
              <a:pathLst>
                <a:path w="507670" h="507670">
                  <a:moveTo>
                    <a:pt x="0" y="0"/>
                  </a:moveTo>
                  <a:lnTo>
                    <a:pt x="507670" y="0"/>
                  </a:lnTo>
                  <a:lnTo>
                    <a:pt x="507670" y="507669"/>
                  </a:lnTo>
                  <a:lnTo>
                    <a:pt x="0" y="507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02250" y="819763"/>
              <a:ext cx="507670" cy="507670"/>
            </a:xfrm>
            <a:custGeom>
              <a:avLst/>
              <a:gdLst/>
              <a:ahLst/>
              <a:cxnLst/>
              <a:rect l="l" t="t" r="r" b="b"/>
              <a:pathLst>
                <a:path w="507670" h="507670">
                  <a:moveTo>
                    <a:pt x="0" y="0"/>
                  </a:moveTo>
                  <a:lnTo>
                    <a:pt x="507670" y="0"/>
                  </a:lnTo>
                  <a:lnTo>
                    <a:pt x="507670" y="507669"/>
                  </a:lnTo>
                  <a:lnTo>
                    <a:pt x="0" y="507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604500" y="819763"/>
              <a:ext cx="507670" cy="507670"/>
            </a:xfrm>
            <a:custGeom>
              <a:avLst/>
              <a:gdLst/>
              <a:ahLst/>
              <a:cxnLst/>
              <a:rect l="l" t="t" r="r" b="b"/>
              <a:pathLst>
                <a:path w="507670" h="507670">
                  <a:moveTo>
                    <a:pt x="0" y="0"/>
                  </a:moveTo>
                  <a:lnTo>
                    <a:pt x="507670" y="0"/>
                  </a:lnTo>
                  <a:lnTo>
                    <a:pt x="507670" y="507669"/>
                  </a:lnTo>
                  <a:lnTo>
                    <a:pt x="0" y="507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5906750" y="819763"/>
              <a:ext cx="507670" cy="507670"/>
            </a:xfrm>
            <a:custGeom>
              <a:avLst/>
              <a:gdLst/>
              <a:ahLst/>
              <a:cxnLst/>
              <a:rect l="l" t="t" r="r" b="b"/>
              <a:pathLst>
                <a:path w="507670" h="507670">
                  <a:moveTo>
                    <a:pt x="0" y="0"/>
                  </a:moveTo>
                  <a:lnTo>
                    <a:pt x="507670" y="0"/>
                  </a:lnTo>
                  <a:lnTo>
                    <a:pt x="507670" y="507669"/>
                  </a:lnTo>
                  <a:lnTo>
                    <a:pt x="0" y="507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7082" y="5640615"/>
            <a:ext cx="2277734" cy="815442"/>
            <a:chOff x="0" y="0"/>
            <a:chExt cx="3036979" cy="10872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Preprocess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2859"/>
              <a:ext cx="3036979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RFE+LSTM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99965" y="5552724"/>
            <a:ext cx="3232657" cy="815442"/>
            <a:chOff x="0" y="0"/>
            <a:chExt cx="4310210" cy="10872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431021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Classic Algorithms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588" y="622859"/>
              <a:ext cx="4284622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LR, RF, XGBoost, LSTM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29878" y="5640615"/>
            <a:ext cx="2972224" cy="721360"/>
            <a:chOff x="0" y="0"/>
            <a:chExt cx="3962965" cy="96181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396296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Transfer Weights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497417"/>
              <a:ext cx="3962965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LSTM weights to Q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963582" y="5640615"/>
            <a:ext cx="4123962" cy="815442"/>
            <a:chOff x="0" y="0"/>
            <a:chExt cx="5498615" cy="1087256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Q-LSTM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622859"/>
              <a:ext cx="5498615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Build with Q-Deep Learning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605" y="406810"/>
            <a:ext cx="16906789" cy="9473381"/>
            <a:chOff x="0" y="0"/>
            <a:chExt cx="4452817" cy="249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52817" cy="2495047"/>
            </a:xfrm>
            <a:custGeom>
              <a:avLst/>
              <a:gdLst/>
              <a:ahLst/>
              <a:cxnLst/>
              <a:rect l="l" t="t" r="r" b="b"/>
              <a:pathLst>
                <a:path w="4452817" h="2495047">
                  <a:moveTo>
                    <a:pt x="0" y="0"/>
                  </a:moveTo>
                  <a:lnTo>
                    <a:pt x="4452817" y="0"/>
                  </a:lnTo>
                  <a:lnTo>
                    <a:pt x="4452817" y="2495047"/>
                  </a:lnTo>
                  <a:lnTo>
                    <a:pt x="0" y="249504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452817" cy="250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55834"/>
              </p:ext>
            </p:extLst>
          </p:nvPr>
        </p:nvGraphicFramePr>
        <p:xfrm>
          <a:off x="4342389" y="2081783"/>
          <a:ext cx="10000067" cy="2931407"/>
        </p:xfrm>
        <a:graphic>
          <a:graphicData uri="http://schemas.openxmlformats.org/drawingml/2006/table">
            <a:tbl>
              <a:tblPr/>
              <a:tblGrid>
                <a:gridCol w="1998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097">
                  <a:extLst>
                    <a:ext uri="{9D8B030D-6E8A-4147-A177-3AD203B41FA5}">
                      <a16:colId xmlns:a16="http://schemas.microsoft.com/office/drawing/2014/main" val="17492014"/>
                    </a:ext>
                  </a:extLst>
                </a:gridCol>
                <a:gridCol w="1496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0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7537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Classifier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 dirty="0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Precision (%)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 dirty="0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Recall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F1 (%)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 dirty="0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ROC (%)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PRC (%)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Training Time(s)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XGBoost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100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99.96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6.55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Logistic Regression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99.72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0.95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Random Forest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99.99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99.96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197.64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LSTM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99.95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100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-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110.72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Q-LSTM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99.53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99.97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99.75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99.99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-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999.67</a:t>
                      </a:r>
                      <a:endParaRPr lang="en-US" sz="1100" dirty="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342389" y="630231"/>
            <a:ext cx="9603223" cy="77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  <a:spcBef>
                <a:spcPct val="0"/>
              </a:spcBef>
            </a:pPr>
            <a:r>
              <a:rPr lang="en-US" sz="4994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MODEL METRICS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63870" y="5492787"/>
            <a:ext cx="7240146" cy="33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2157" i="1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Table 1: Model Metrics of Classic Algorithms and Q-LSTM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02058" y="7127579"/>
          <a:ext cx="1718920" cy="1292184"/>
        </p:xfrm>
        <a:graphic>
          <a:graphicData uri="http://schemas.openxmlformats.org/drawingml/2006/table">
            <a:tbl>
              <a:tblPr/>
              <a:tblGrid>
                <a:gridCol w="8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47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56863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0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1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472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56391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02847" y="7127579"/>
          <a:ext cx="1718920" cy="1292184"/>
        </p:xfrm>
        <a:graphic>
          <a:graphicData uri="http://schemas.openxmlformats.org/drawingml/2006/table">
            <a:tbl>
              <a:tblPr/>
              <a:tblGrid>
                <a:gridCol w="8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47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56805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1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159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56704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203635" y="7127579"/>
          <a:ext cx="1718920" cy="1292184"/>
        </p:xfrm>
        <a:graphic>
          <a:graphicData uri="http://schemas.openxmlformats.org/drawingml/2006/table">
            <a:tbl>
              <a:tblPr/>
              <a:tblGrid>
                <a:gridCol w="8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47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56859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4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1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20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56843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404424" y="7127579"/>
          <a:ext cx="1718920" cy="1292184"/>
        </p:xfrm>
        <a:graphic>
          <a:graphicData uri="http://schemas.openxmlformats.org/drawingml/2006/table">
            <a:tbl>
              <a:tblPr/>
              <a:tblGrid>
                <a:gridCol w="8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47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56835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1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27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56836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2605212" y="7127579"/>
          <a:ext cx="1718920" cy="1292184"/>
        </p:xfrm>
        <a:graphic>
          <a:graphicData uri="http://schemas.openxmlformats.org/drawingml/2006/table">
            <a:tbl>
              <a:tblPr/>
              <a:tblGrid>
                <a:gridCol w="8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47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56593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270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12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15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56848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5758413" y="8791237"/>
            <a:ext cx="7851060" cy="33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2157" i="1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Table 2: Confusion Matrix: XGBoost - LR - RF - LSTM - Q-LSTM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39123" y="630231"/>
            <a:ext cx="8209754" cy="77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  <a:spcBef>
                <a:spcPct val="0"/>
              </a:spcBef>
            </a:pPr>
            <a:r>
              <a:rPr lang="en-US" sz="4994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87892" y="2651311"/>
            <a:ext cx="16198272" cy="317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7299" lvl="1" indent="-243649" algn="just">
              <a:lnSpc>
                <a:spcPts val="3656"/>
              </a:lnSpc>
              <a:buFont typeface="Arial"/>
              <a:buChar char="•"/>
            </a:pPr>
            <a:r>
              <a:rPr lang="en-US" sz="225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Q-LSTM resulted in an overall higher recall rate and ROC-AUC compared to the other classifiers. </a:t>
            </a:r>
          </a:p>
          <a:p>
            <a:pPr algn="just">
              <a:lnSpc>
                <a:spcPts val="3656"/>
              </a:lnSpc>
            </a:pPr>
            <a:endParaRPr lang="en-US" sz="2257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marL="487299" lvl="1" indent="-243649" algn="just">
              <a:lnSpc>
                <a:spcPts val="3656"/>
              </a:lnSpc>
              <a:buFont typeface="Arial"/>
              <a:buChar char="•"/>
            </a:pPr>
            <a:r>
              <a:rPr lang="en-US" sz="225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XGBoost outperformed all the classifiers in majority of the metrics, including Q-LSTM</a:t>
            </a:r>
          </a:p>
          <a:p>
            <a:pPr algn="just">
              <a:lnSpc>
                <a:spcPts val="3656"/>
              </a:lnSpc>
            </a:pPr>
            <a:endParaRPr lang="en-US" sz="2257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marL="487299" lvl="1" indent="-243649" algn="just">
              <a:lnSpc>
                <a:spcPts val="3656"/>
              </a:lnSpc>
              <a:buFont typeface="Arial"/>
              <a:buChar char="•"/>
            </a:pPr>
            <a:r>
              <a:rPr lang="en-US" sz="225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LSTM marginally outperformed Q-LSTM in majority of the metrics. </a:t>
            </a:r>
          </a:p>
          <a:p>
            <a:pPr algn="just">
              <a:lnSpc>
                <a:spcPts val="3656"/>
              </a:lnSpc>
            </a:pPr>
            <a:endParaRPr lang="en-US" sz="2257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marL="487299" lvl="1" indent="-243649" algn="just">
              <a:lnSpc>
                <a:spcPts val="3656"/>
              </a:lnSpc>
              <a:buFont typeface="Arial"/>
              <a:buChar char="•"/>
            </a:pPr>
            <a:r>
              <a:rPr lang="en-US" sz="225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However, in the long-term, Q-deep learning will be able to adapt to changes and trends in behavior.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605" y="406810"/>
            <a:ext cx="16906789" cy="9473381"/>
            <a:chOff x="0" y="0"/>
            <a:chExt cx="4452817" cy="249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52817" cy="2495047"/>
            </a:xfrm>
            <a:custGeom>
              <a:avLst/>
              <a:gdLst/>
              <a:ahLst/>
              <a:cxnLst/>
              <a:rect l="l" t="t" r="r" b="b"/>
              <a:pathLst>
                <a:path w="4452817" h="2495047">
                  <a:moveTo>
                    <a:pt x="0" y="0"/>
                  </a:moveTo>
                  <a:lnTo>
                    <a:pt x="4452817" y="0"/>
                  </a:lnTo>
                  <a:lnTo>
                    <a:pt x="4452817" y="2495047"/>
                  </a:lnTo>
                  <a:lnTo>
                    <a:pt x="0" y="249504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452817" cy="250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09452" y="4216384"/>
            <a:ext cx="9669096" cy="182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9"/>
              </a:lnSpc>
              <a:spcBef>
                <a:spcPct val="0"/>
              </a:spcBef>
            </a:pPr>
            <a:r>
              <a:rPr lang="en-US" sz="11852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8842" y="7218953"/>
            <a:ext cx="2815352" cy="46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619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Sankofa Benzo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73351" y="7218953"/>
            <a:ext cx="4115807" cy="46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61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sbenz1@unh.newhaven.edu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402</Words>
  <Application>Microsoft Macintosh PowerPoint</Application>
  <PresentationFormat>Custom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Nunito Italics</vt:lpstr>
      <vt:lpstr>Calibri</vt:lpstr>
      <vt:lpstr>Now</vt:lpstr>
      <vt:lpstr>Garamond Bold</vt:lpstr>
      <vt:lpstr>Arial</vt:lpstr>
      <vt:lpstr>Garet</vt:lpstr>
      <vt:lpstr>Now Bold</vt:lpstr>
      <vt:lpstr>Garamond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 Final Presentation</dc:title>
  <cp:lastModifiedBy>Benzo, Sankofa N</cp:lastModifiedBy>
  <cp:revision>2</cp:revision>
  <dcterms:created xsi:type="dcterms:W3CDTF">2006-08-16T00:00:00Z</dcterms:created>
  <dcterms:modified xsi:type="dcterms:W3CDTF">2025-12-10T20:15:23Z</dcterms:modified>
  <dc:identifier>DAG7Hw5_vsE</dc:identifier>
</cp:coreProperties>
</file>